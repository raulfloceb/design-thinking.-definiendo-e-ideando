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FAFEA2-5373-4E0E-8EB8-4E3B6A0917AE}" v="6" dt="2026-10-17T00:02:11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úl Flores" userId="0f6c640072e4580a" providerId="LiveId" clId="{8B97438F-73BE-4790-A94D-8F738E5E4715}"/>
    <pc:docChg chg="custSel modSld modNotesMaster">
      <pc:chgData name="Raúl Flores" userId="0f6c640072e4580a" providerId="LiveId" clId="{8B97438F-73BE-4790-A94D-8F738E5E4715}" dt="2026-10-17T00:19:07.922" v="1622" actId="1037"/>
      <pc:docMkLst>
        <pc:docMk/>
      </pc:docMkLst>
      <pc:sldChg chg="modSp mod modNotes">
        <pc:chgData name="Raúl Flores" userId="0f6c640072e4580a" providerId="LiveId" clId="{8B97438F-73BE-4790-A94D-8F738E5E4715}" dt="2026-10-17T00:18:33.469" v="1612" actId="1076"/>
        <pc:sldMkLst>
          <pc:docMk/>
          <pc:sldMk cId="1640816679" sldId="256"/>
        </pc:sldMkLst>
        <pc:spChg chg="mod">
          <ac:chgData name="Raúl Flores" userId="0f6c640072e4580a" providerId="LiveId" clId="{8B97438F-73BE-4790-A94D-8F738E5E4715}" dt="2026-10-17T00:11:58.106" v="1583" actId="5793"/>
          <ac:spMkLst>
            <pc:docMk/>
            <pc:sldMk cId="1640816679" sldId="256"/>
            <ac:spMk id="2" creationId="{EDAFD5AB-E1D8-F0B3-F9ED-A7BE1E947DBD}"/>
          </ac:spMkLst>
        </pc:spChg>
        <pc:spChg chg="mod">
          <ac:chgData name="Raúl Flores" userId="0f6c640072e4580a" providerId="LiveId" clId="{8B97438F-73BE-4790-A94D-8F738E5E4715}" dt="2026-10-17T00:10:37.947" v="1441" actId="20577"/>
          <ac:spMkLst>
            <pc:docMk/>
            <pc:sldMk cId="1640816679" sldId="256"/>
            <ac:spMk id="3" creationId="{3129CB61-59C8-F15E-40FA-9B8A4749B764}"/>
          </ac:spMkLst>
        </pc:spChg>
        <pc:picChg chg="mod">
          <ac:chgData name="Raúl Flores" userId="0f6c640072e4580a" providerId="LiveId" clId="{8B97438F-73BE-4790-A94D-8F738E5E4715}" dt="2026-10-17T00:18:33.469" v="1612" actId="1076"/>
          <ac:picMkLst>
            <pc:docMk/>
            <pc:sldMk cId="1640816679" sldId="256"/>
            <ac:picMk id="4" creationId="{00000000-0000-0000-0000-000000000000}"/>
          </ac:picMkLst>
        </pc:picChg>
      </pc:sldChg>
      <pc:sldChg chg="addSp delSp modSp mod">
        <pc:chgData name="Raúl Flores" userId="0f6c640072e4580a" providerId="LiveId" clId="{8B97438F-73BE-4790-A94D-8F738E5E4715}" dt="2026-10-17T00:13:15.369" v="1606" actId="1035"/>
        <pc:sldMkLst>
          <pc:docMk/>
          <pc:sldMk cId="165359847" sldId="257"/>
        </pc:sldMkLst>
        <pc:spChg chg="add del mod">
          <ac:chgData name="Raúl Flores" userId="0f6c640072e4580a" providerId="LiveId" clId="{8B97438F-73BE-4790-A94D-8F738E5E4715}" dt="2026-10-17T00:00:17.772" v="392"/>
          <ac:spMkLst>
            <pc:docMk/>
            <pc:sldMk cId="165359847" sldId="257"/>
            <ac:spMk id="2" creationId="{485684DB-1EDD-BF99-9FD6-B83708B17FF2}"/>
          </ac:spMkLst>
        </pc:spChg>
        <pc:spChg chg="mod">
          <ac:chgData name="Raúl Flores" userId="0f6c640072e4580a" providerId="LiveId" clId="{8B97438F-73BE-4790-A94D-8F738E5E4715}" dt="2026-10-17T00:03:13.249" v="553" actId="1037"/>
          <ac:spMkLst>
            <pc:docMk/>
            <pc:sldMk cId="165359847" sldId="257"/>
            <ac:spMk id="3" creationId="{D6F98A9A-017A-DB62-6C39-7FE921DB1C33}"/>
          </ac:spMkLst>
        </pc:spChg>
        <pc:spChg chg="mod">
          <ac:chgData name="Raúl Flores" userId="0f6c640072e4580a" providerId="LiveId" clId="{8B97438F-73BE-4790-A94D-8F738E5E4715}" dt="2026-10-16T23:59:54.629" v="387" actId="1035"/>
          <ac:spMkLst>
            <pc:docMk/>
            <pc:sldMk cId="165359847" sldId="257"/>
            <ac:spMk id="5" creationId="{00000000-0000-0000-0000-000000000000}"/>
          </ac:spMkLst>
        </pc:spChg>
        <pc:spChg chg="mod">
          <ac:chgData name="Raúl Flores" userId="0f6c640072e4580a" providerId="LiveId" clId="{8B97438F-73BE-4790-A94D-8F738E5E4715}" dt="2026-10-16T23:59:54.629" v="387" actId="1035"/>
          <ac:spMkLst>
            <pc:docMk/>
            <pc:sldMk cId="165359847" sldId="257"/>
            <ac:spMk id="6" creationId="{00000000-0000-0000-0000-000000000000}"/>
          </ac:spMkLst>
        </pc:spChg>
        <pc:spChg chg="mod">
          <ac:chgData name="Raúl Flores" userId="0f6c640072e4580a" providerId="LiveId" clId="{8B97438F-73BE-4790-A94D-8F738E5E4715}" dt="2026-10-16T23:59:54.629" v="387" actId="1035"/>
          <ac:spMkLst>
            <pc:docMk/>
            <pc:sldMk cId="165359847" sldId="257"/>
            <ac:spMk id="7" creationId="{00000000-0000-0000-0000-000000000000}"/>
          </ac:spMkLst>
        </pc:spChg>
        <pc:spChg chg="mod">
          <ac:chgData name="Raúl Flores" userId="0f6c640072e4580a" providerId="LiveId" clId="{8B97438F-73BE-4790-A94D-8F738E5E4715}" dt="2026-10-16T23:59:54.629" v="387" actId="1035"/>
          <ac:spMkLst>
            <pc:docMk/>
            <pc:sldMk cId="165359847" sldId="257"/>
            <ac:spMk id="8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4:37.303" v="622" actId="20577"/>
          <ac:spMkLst>
            <pc:docMk/>
            <pc:sldMk cId="165359847" sldId="257"/>
            <ac:spMk id="9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0:26.155" v="400" actId="1036"/>
          <ac:spMkLst>
            <pc:docMk/>
            <pc:sldMk cId="165359847" sldId="257"/>
            <ac:spMk id="10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0:26.155" v="400" actId="1036"/>
          <ac:spMkLst>
            <pc:docMk/>
            <pc:sldMk cId="165359847" sldId="257"/>
            <ac:spMk id="11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5:10.205" v="631" actId="20577"/>
          <ac:spMkLst>
            <pc:docMk/>
            <pc:sldMk cId="165359847" sldId="257"/>
            <ac:spMk id="12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2:57.275" v="534" actId="1036"/>
          <ac:spMkLst>
            <pc:docMk/>
            <pc:sldMk cId="165359847" sldId="257"/>
            <ac:spMk id="13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2:57.275" v="534" actId="1036"/>
          <ac:spMkLst>
            <pc:docMk/>
            <pc:sldMk cId="165359847" sldId="257"/>
            <ac:spMk id="14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13:00.704" v="1587" actId="20577"/>
          <ac:spMkLst>
            <pc:docMk/>
            <pc:sldMk cId="165359847" sldId="257"/>
            <ac:spMk id="15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5:26.753" v="655" actId="1036"/>
          <ac:spMkLst>
            <pc:docMk/>
            <pc:sldMk cId="165359847" sldId="257"/>
            <ac:spMk id="16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5:26.753" v="655" actId="1036"/>
          <ac:spMkLst>
            <pc:docMk/>
            <pc:sldMk cId="165359847" sldId="257"/>
            <ac:spMk id="17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06:11.746" v="795" actId="20577"/>
          <ac:spMkLst>
            <pc:docMk/>
            <pc:sldMk cId="165359847" sldId="257"/>
            <ac:spMk id="18" creationId="{00000000-0000-0000-0000-000000000000}"/>
          </ac:spMkLst>
        </pc:spChg>
        <pc:spChg chg="add mod">
          <ac:chgData name="Raúl Flores" userId="0f6c640072e4580a" providerId="LiveId" clId="{8B97438F-73BE-4790-A94D-8F738E5E4715}" dt="2026-10-17T00:05:26.753" v="655" actId="1036"/>
          <ac:spMkLst>
            <pc:docMk/>
            <pc:sldMk cId="165359847" sldId="257"/>
            <ac:spMk id="22" creationId="{7E092834-7B1F-85B8-E9D4-587A5750AE12}"/>
          </ac:spMkLst>
        </pc:spChg>
        <pc:graphicFrameChg chg="del mod">
          <ac:chgData name="Raúl Flores" userId="0f6c640072e4580a" providerId="LiveId" clId="{8B97438F-73BE-4790-A94D-8F738E5E4715}" dt="2026-10-17T00:01:03.765" v="467" actId="478"/>
          <ac:graphicFrameMkLst>
            <pc:docMk/>
            <pc:sldMk cId="165359847" sldId="257"/>
            <ac:graphicFrameMk id="4" creationId="{09F9AA05-496F-7116-32B1-2EC5BD535E6A}"/>
          </ac:graphicFrameMkLst>
        </pc:graphicFrameChg>
        <pc:picChg chg="add mod modCrop">
          <ac:chgData name="Raúl Flores" userId="0f6c640072e4580a" providerId="LiveId" clId="{8B97438F-73BE-4790-A94D-8F738E5E4715}" dt="2026-10-17T00:13:11.274" v="1597" actId="1036"/>
          <ac:picMkLst>
            <pc:docMk/>
            <pc:sldMk cId="165359847" sldId="257"/>
            <ac:picMk id="19" creationId="{742D4661-C1FA-9B6E-8D2D-61D936960B64}"/>
          </ac:picMkLst>
        </pc:picChg>
        <pc:picChg chg="add mod modCrop">
          <ac:chgData name="Raúl Flores" userId="0f6c640072e4580a" providerId="LiveId" clId="{8B97438F-73BE-4790-A94D-8F738E5E4715}" dt="2026-10-17T00:13:15.369" v="1606" actId="1035"/>
          <ac:picMkLst>
            <pc:docMk/>
            <pc:sldMk cId="165359847" sldId="257"/>
            <ac:picMk id="20" creationId="{FF496C94-9CC6-BA62-8CBC-43EC28B815AA}"/>
          </ac:picMkLst>
        </pc:picChg>
      </pc:sldChg>
      <pc:sldChg chg="modSp mod modNotes">
        <pc:chgData name="Raúl Flores" userId="0f6c640072e4580a" providerId="LiveId" clId="{8B97438F-73BE-4790-A94D-8F738E5E4715}" dt="2026-10-17T00:19:07.922" v="1622" actId="1037"/>
        <pc:sldMkLst>
          <pc:docMk/>
          <pc:sldMk cId="745584726" sldId="258"/>
        </pc:sldMkLst>
        <pc:spChg chg="mod">
          <ac:chgData name="Raúl Flores" userId="0f6c640072e4580a" providerId="LiveId" clId="{8B97438F-73BE-4790-A94D-8F738E5E4715}" dt="2026-10-17T00:13:48.260" v="1608" actId="20577"/>
          <ac:spMkLst>
            <pc:docMk/>
            <pc:sldMk cId="745584726" sldId="258"/>
            <ac:spMk id="10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19:07.922" v="1622" actId="1037"/>
          <ac:spMkLst>
            <pc:docMk/>
            <pc:sldMk cId="745584726" sldId="258"/>
            <ac:spMk id="11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19:07.922" v="1622" actId="1037"/>
          <ac:spMkLst>
            <pc:docMk/>
            <pc:sldMk cId="745584726" sldId="258"/>
            <ac:spMk id="12" creationId="{00000000-0000-0000-0000-000000000000}"/>
          </ac:spMkLst>
        </pc:spChg>
        <pc:spChg chg="mod">
          <ac:chgData name="Raúl Flores" userId="0f6c640072e4580a" providerId="LiveId" clId="{8B97438F-73BE-4790-A94D-8F738E5E4715}" dt="2026-10-17T00:19:07.922" v="1622" actId="1037"/>
          <ac:spMkLst>
            <pc:docMk/>
            <pc:sldMk cId="745584726" sldId="258"/>
            <ac:spMk id="13" creationId="{00000000-0000-0000-0000-000000000000}"/>
          </ac:spMkLst>
        </pc:spChg>
        <pc:picChg chg="mod">
          <ac:chgData name="Raúl Flores" userId="0f6c640072e4580a" providerId="LiveId" clId="{8B97438F-73BE-4790-A94D-8F738E5E4715}" dt="2026-10-17T00:18:29.658" v="1611" actId="1076"/>
          <ac:picMkLst>
            <pc:docMk/>
            <pc:sldMk cId="745584726" sldId="258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2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Ilustración conceptual generada con IA sobre </a:t>
            </a:r>
            <a:r>
              <a:rPr lang="es-MX"/>
              <a:t>inspección de nivel de llenado </a:t>
            </a:r>
            <a:r>
              <a:t>y </a:t>
            </a:r>
            <a:r>
              <a:rPr lang="es-MX"/>
              <a:t>presencia </a:t>
            </a:r>
            <a:r>
              <a:t>de </a:t>
            </a:r>
            <a:r>
              <a:rPr lang="es-MX"/>
              <a:t>etiqueta en botellas</a:t>
            </a:r>
            <a:r>
              <a:t>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Ilustración conceptual generada con IA sobre </a:t>
            </a:r>
            <a:r>
              <a:rPr lang="es-MX"/>
              <a:t>análisis de calidad </a:t>
            </a:r>
            <a:r>
              <a:t>de </a:t>
            </a:r>
            <a:r>
              <a:rPr lang="es-MX"/>
              <a:t>botellas y documentación del modelo</a:t>
            </a:r>
            <a:r>
              <a:t>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E321D-FF27-7A8A-9C80-BF518D836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704451-0099-707D-1616-26CF1E6E7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C34E86-C30A-942B-7787-30A1FA6E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371652-87AE-7EF2-2A3E-A3EBA2A3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C01A6C-90DB-8E00-C057-0C1693F1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32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B3501-FFEA-5D72-2B6A-9375022A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8D74C-515F-DE4C-3776-EBA574027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58EA79-6AF9-4B9C-677A-365ED8D5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4AF540-5A24-BC4D-8D56-C5E729E1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E41F76-28F5-1CD2-D737-7DDEA62F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7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13667-7D66-9AA9-7DA2-708DBBBE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BBF7D8-7BD5-C6DB-345B-DC24FFC24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EF8FCE-720D-7FEC-0EA9-F0049B09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41F-C552-FC7F-E44F-B2EBE35B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734734-DF8F-7F51-838E-8FE03128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100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CD2F2-C82B-D734-1195-BF5D78E3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323AE2-41C5-47B7-4A35-545A50736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E35263-293F-C160-F709-7CA4488A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828998-D38D-C177-1DD4-5A1053C7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B4AABF-06EB-D393-721E-2ED4105B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ED9850-8ED0-79E6-4210-2A29F36B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81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9D42E-CF58-085F-E9D4-3808C163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61680C-EE96-06DA-051D-9C42BCDDE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B7BA3E-E3B2-C665-E6A8-AFE72729F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CACDB6-0C3B-0E5E-2052-3507ED477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E143C8-488F-FB83-16B1-D72FABF45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ED20A7-7163-C32E-5DAB-7209EFF1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92E58F-4516-E880-E4CA-B7EC5D10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A3D1F8-13AD-3930-16B6-6FD5D443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9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5E384-F767-07DE-7BC9-709CC28C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85BF65-4416-3A61-EFDD-CF3B7481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C7A75C-8AD7-CAF6-3CD2-2E34C70F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ACD6A4-2361-0FAA-E272-E814CE1E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862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AA5C6A-F63E-4916-5A5E-79F240AA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44D77D-3317-3C3A-AF79-0854C061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CA187B-D6CC-4DE3-B995-85AA80F8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585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065A6-EF08-48A0-D626-F502A41B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0B05D7-D96E-1993-2E60-152E4B53D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6A3EF4-D8F3-107E-58E5-1D4686D9D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BFFD45-5C76-1DCF-2304-CFCBB13B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846160-6A94-BDC4-D94B-D1B36B89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43D4CC-337D-3204-384B-8B419477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467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6F1B6-C4C0-A8E3-55F7-29FD635A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30E9E4-3D56-DCB7-2A99-71296EBBAEE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20D865-8E8C-3210-B46E-5E7DF8B2F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179842-D77A-3DD8-F87E-9AD0E425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D97B77-DB5B-9C45-2996-4FDDF089C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92466E-ED45-70E3-DFB6-E821FB7A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60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28625-252B-E927-12A0-8F284439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C895E1-6681-283B-CE40-139938182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CE1375-2C45-717F-D5A7-0C53A5D1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814E52-76BD-F7CD-10D0-AAF8A6BA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CE9444-5F6E-6161-AF9E-F4A39B9E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020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8A0A12-77EB-8C28-0E9B-5DCAECEF0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D7B923-0AE4-0231-2B77-EDB47A196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A5D095-5C9F-CDEA-E1BC-533A1544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6944F9-6011-7A00-3405-34FA5C47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7FF3F5-0984-FF3B-C1C6-97C6E6D9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542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4BA75C-E03F-7B98-68DF-314B2429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9DDDB5-A6A7-1A32-BAE3-954D965A8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33E3C2-A8F0-9845-9FA6-0B7248477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27F12-1194-4185-9CC3-39902962DFE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14F210-BEFB-3188-D4A4-DBCF0437F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2A90D6-84A8-B008-0DE1-C4D14554A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BCCF7-5D37-42E8-A7C2-6BB2E50465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070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FD5AB-E1D8-F0B3-F9ED-A7BE1E947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412" y="1799572"/>
            <a:ext cx="7083644" cy="2701792"/>
          </a:xfrm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2800" b="1" dirty="0">
                <a:solidFill>
                  <a:srgbClr val="172237"/>
                </a:solidFill>
                <a:latin typeface="DejaVu Sans"/>
              </a:rPr>
              <a:t>“Definiendo e Ideando”</a:t>
            </a:r>
            <a:br>
              <a:rPr lang="es-MX" sz="2800" b="1" dirty="0">
                <a:solidFill>
                  <a:srgbClr val="172237"/>
                </a:solidFill>
                <a:latin typeface="DejaVu Sans"/>
              </a:rPr>
            </a:br>
            <a:br>
              <a:rPr lang="es-MX" sz="2800" b="1" dirty="0">
                <a:solidFill>
                  <a:srgbClr val="172237"/>
                </a:solidFill>
                <a:latin typeface="DejaVu Sans"/>
              </a:rPr>
            </a:br>
            <a:r>
              <a:rPr lang="es-MX" sz="2800" b="1" dirty="0">
                <a:solidFill>
                  <a:srgbClr val="172237"/>
                </a:solidFill>
                <a:latin typeface="DejaVu Sans"/>
              </a:rPr>
              <a:t>Modelos que automatizan la inspección y rechazo de defectos en líneas de alta velocidad …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29CB61-59C8-F15E-40FA-9B8A4749B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792" y="1115568"/>
            <a:ext cx="5486400" cy="457200"/>
          </a:xfrm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2100" b="1" dirty="0">
                <a:solidFill>
                  <a:srgbClr val="2864E9"/>
                </a:solidFill>
                <a:latin typeface="DejaVu Sans"/>
              </a:rPr>
              <a:t>README ….</a:t>
            </a:r>
            <a:endParaRPr lang="es-MX" dirty="0"/>
          </a:p>
        </p:txBody>
      </p:sp>
      <p:pic>
        <p:nvPicPr>
          <p:cNvPr id="4" name="Picture 3" descr="Ilustración conceptual de inspección automatizada de botella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56386" y="3722691"/>
            <a:ext cx="2870077" cy="27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1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F98A9A-017A-DB62-6C39-7FE921DB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05" y="767243"/>
            <a:ext cx="4818888" cy="1463040"/>
          </a:xfrm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    E</a:t>
            </a:r>
            <a:r>
              <a:rPr lang="es-MX" sz="1400" dirty="0">
                <a:solidFill>
                  <a:srgbClr val="47556C"/>
                </a:solidFill>
                <a:latin typeface="DejaVu Sans"/>
              </a:rPr>
              <a:t>ntrenar un par de modelos que se ajusten a la problemática de la inspección de botellas de 600ml para aceptar/rechazar las que estén dentro del rango de nivel de llenado y con etiqueta para comparar los resultados y decidir cuál de ellos se adapta mejor a la necesidad.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s-MX" sz="2000" dirty="0"/>
          </a:p>
        </p:txBody>
      </p:sp>
      <p:sp>
        <p:nvSpPr>
          <p:cNvPr id="5" name="Oval 4"/>
          <p:cNvSpPr/>
          <p:nvPr/>
        </p:nvSpPr>
        <p:spPr>
          <a:xfrm>
            <a:off x="475488" y="268895"/>
            <a:ext cx="338328" cy="338328"/>
          </a:xfrm>
          <a:prstGeom prst="ellipse">
            <a:avLst/>
          </a:prstGeom>
          <a:solidFill>
            <a:srgbClr val="286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36891"/>
            <a:ext cx="481888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Própósito. </a:t>
            </a:r>
          </a:p>
        </p:txBody>
      </p:sp>
      <p:sp>
        <p:nvSpPr>
          <p:cNvPr id="7" name="Oval 6"/>
          <p:cNvSpPr/>
          <p:nvPr/>
        </p:nvSpPr>
        <p:spPr>
          <a:xfrm>
            <a:off x="475488" y="2231647"/>
            <a:ext cx="338328" cy="338328"/>
          </a:xfrm>
          <a:prstGeom prst="ellipse">
            <a:avLst/>
          </a:prstGeom>
          <a:solidFill>
            <a:srgbClr val="80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9643"/>
            <a:ext cx="481888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Datos y modelo.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29996"/>
            <a:ext cx="4818888" cy="23204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Se preparó un par de data sets con un universo de 5,000 registros cada uno que combinan las dos variables; nivel de llenado y presencia de etiqueta. Uno de los data sets tiene un porcentaje de combinaciones de rechazo equivalentes al 0.5% y un segundo data set con 0.2% de combinaciones de rechazo.</a:t>
            </a:r>
          </a:p>
          <a:p>
            <a:pPr>
              <a:spcAft>
                <a:spcPts val="800"/>
              </a:spcAft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Se utilizó un modelo lineal base (Regresión Lineal); frente a un modelo basado en árboles de decisión de alto rendimiento (</a:t>
            </a:r>
            <a:r>
              <a:rPr lang="es-MX" sz="1400" dirty="0" err="1">
                <a:solidFill>
                  <a:srgbClr val="47556C"/>
                </a:solidFill>
                <a:latin typeface="DejaVu Sans"/>
              </a:rPr>
              <a:t>XGBoost</a:t>
            </a:r>
            <a:r>
              <a:rPr lang="es-MX" sz="1400" dirty="0">
                <a:solidFill>
                  <a:srgbClr val="47556C"/>
                </a:solidFill>
                <a:latin typeface="DejaVu Sans"/>
              </a:rPr>
              <a:t>).</a:t>
            </a:r>
          </a:p>
          <a:p>
            <a:pPr>
              <a:spcAft>
                <a:spcPts val="800"/>
              </a:spcAft>
            </a:pPr>
            <a:endParaRPr lang="es-MX" sz="1400" dirty="0">
              <a:solidFill>
                <a:srgbClr val="47556C"/>
              </a:solidFill>
              <a:latin typeface="DejaVu Sans"/>
            </a:endParaRPr>
          </a:p>
          <a:p>
            <a:pPr>
              <a:spcAft>
                <a:spcPts val="800"/>
              </a:spcAft>
            </a:pPr>
            <a:endParaRPr sz="1400" dirty="0">
              <a:solidFill>
                <a:srgbClr val="47556C"/>
              </a:solidFill>
              <a:latin typeface="DejaVu San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03602" y="5237709"/>
            <a:ext cx="338328" cy="338328"/>
          </a:xfrm>
          <a:prstGeom prst="ellipse">
            <a:avLst/>
          </a:prstGeom>
          <a:solidFill>
            <a:srgbClr val="F6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945" y="5205705"/>
            <a:ext cx="502005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Instalación.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945" y="5736058"/>
            <a:ext cx="5020056" cy="970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dirty="0">
                <a:solidFill>
                  <a:srgbClr val="47556C"/>
                </a:solidFill>
                <a:latin typeface="DejaVu Sans"/>
              </a:rPr>
              <a:t>No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requiere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una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instalación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en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especial,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ya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que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el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modelo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con sus </a:t>
            </a:r>
            <a:r>
              <a:rPr lang="es-MX" sz="1400" b="0" dirty="0">
                <a:solidFill>
                  <a:srgbClr val="47556C"/>
                </a:solidFill>
                <a:latin typeface="DejaVu Sans"/>
              </a:rPr>
              <a:t>dos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variantes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puede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correr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de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manera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aislada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sin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alguna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dependencia</a:t>
            </a:r>
            <a:r>
              <a:rPr lang="es-MX" sz="1400" dirty="0">
                <a:solidFill>
                  <a:srgbClr val="47556C"/>
                </a:solidFill>
                <a:latin typeface="DejaVu Sans"/>
              </a:rPr>
              <a:t>; excepto la carga de los data sets en el ambiente de </a:t>
            </a:r>
            <a:r>
              <a:rPr lang="es-MX" sz="1400" dirty="0" err="1">
                <a:solidFill>
                  <a:srgbClr val="47556C"/>
                </a:solidFill>
                <a:latin typeface="DejaVu Sans"/>
              </a:rPr>
              <a:t>Colab</a:t>
            </a:r>
            <a:r>
              <a:rPr lang="es-MX" sz="1400" dirty="0">
                <a:solidFill>
                  <a:srgbClr val="47556C"/>
                </a:solidFill>
                <a:latin typeface="DejaVu Sans"/>
              </a:rPr>
              <a:t>. </a:t>
            </a:r>
            <a:endParaRPr sz="1400" b="0" dirty="0">
              <a:solidFill>
                <a:srgbClr val="47556C"/>
              </a:solidFill>
              <a:latin typeface="DejaVu San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190488" y="874946"/>
            <a:ext cx="338328" cy="338328"/>
          </a:xfrm>
          <a:prstGeom prst="ellipse">
            <a:avLst/>
          </a:prstGeom>
          <a:solidFill>
            <a:srgbClr val="049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842942"/>
            <a:ext cx="502005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Uso.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1373294"/>
            <a:ext cx="5020056" cy="16862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dirty="0">
                <a:solidFill>
                  <a:srgbClr val="47556C"/>
                </a:solidFill>
                <a:latin typeface="DejaVu Sans"/>
              </a:rPr>
              <a:t>Para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ejecutar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el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sistema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, se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requiere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abrir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el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modelo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.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jpynb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en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un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ambiente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de Google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Colab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. </a:t>
            </a:r>
            <a:endParaRPr lang="es-MX" sz="1400" b="0" dirty="0">
              <a:solidFill>
                <a:srgbClr val="47556C"/>
              </a:solidFill>
              <a:latin typeface="DejaVu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dirty="0" err="1">
                <a:solidFill>
                  <a:srgbClr val="47556C"/>
                </a:solidFill>
                <a:latin typeface="DejaVu Sans"/>
              </a:rPr>
              <a:t>Correrlo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y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esperar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a la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entrega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de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los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resultados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. </a:t>
            </a:r>
            <a:endParaRPr lang="es-MX" sz="1400" b="0" dirty="0">
              <a:solidFill>
                <a:srgbClr val="47556C"/>
              </a:solidFill>
              <a:latin typeface="DejaVu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La aplicación del modelo está pensada para instalarse en una estación de inspección de alta velocidad en una línea de embotellado. 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</a:p>
        </p:txBody>
      </p:sp>
      <p:sp>
        <p:nvSpPr>
          <p:cNvPr id="16" name="Oval 15"/>
          <p:cNvSpPr/>
          <p:nvPr/>
        </p:nvSpPr>
        <p:spPr>
          <a:xfrm>
            <a:off x="6190488" y="3224599"/>
            <a:ext cx="338328" cy="338328"/>
          </a:xfrm>
          <a:prstGeom prst="ellipse">
            <a:avLst/>
          </a:prstGeom>
          <a:solidFill>
            <a:srgbClr val="E5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3235266"/>
            <a:ext cx="502005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Resultados.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0" y="3765618"/>
            <a:ext cx="5336695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dirty="0">
                <a:solidFill>
                  <a:srgbClr val="47556C"/>
                </a:solidFill>
                <a:latin typeface="DejaVu Sans"/>
              </a:rPr>
              <a:t>A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continuación</a:t>
            </a:r>
            <a:r>
              <a:rPr lang="es-MX" sz="1400" b="0" dirty="0">
                <a:solidFill>
                  <a:srgbClr val="47556C"/>
                </a:solidFill>
                <a:latin typeface="DejaVu Sans"/>
              </a:rPr>
              <a:t>,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se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anexa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la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tabla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resumen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de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los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resultados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donde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se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compara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el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desempeño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de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los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lang="es-MX" sz="1400" b="0" dirty="0">
                <a:solidFill>
                  <a:srgbClr val="47556C"/>
                </a:solidFill>
                <a:latin typeface="DejaVu Sans"/>
              </a:rPr>
              <a:t>dos</a:t>
            </a:r>
            <a:r>
              <a:rPr sz="1400" b="0" dirty="0">
                <a:solidFill>
                  <a:srgbClr val="47556C"/>
                </a:solidFill>
                <a:latin typeface="DejaVu Sans"/>
              </a:rPr>
              <a:t> </a:t>
            </a:r>
            <a:r>
              <a:rPr sz="1400" b="0" dirty="0" err="1">
                <a:solidFill>
                  <a:srgbClr val="47556C"/>
                </a:solidFill>
                <a:latin typeface="DejaVu Sans"/>
              </a:rPr>
              <a:t>modelos</a:t>
            </a:r>
            <a:endParaRPr lang="es-MX" sz="1400" b="0" dirty="0">
              <a:solidFill>
                <a:srgbClr val="47556C"/>
              </a:solidFill>
              <a:latin typeface="DejaVu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Data set con 0.5% de rechazos: </a:t>
            </a:r>
            <a:endParaRPr sz="1400" b="0" dirty="0">
              <a:solidFill>
                <a:srgbClr val="47556C"/>
              </a:solidFill>
              <a:latin typeface="DejaVu Sans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42D4661-C1FA-9B6E-8D2D-61D93696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5163" b="-6892"/>
          <a:stretch>
            <a:fillRect/>
          </a:stretch>
        </p:blipFill>
        <p:spPr>
          <a:xfrm>
            <a:off x="6431282" y="4843178"/>
            <a:ext cx="5663184" cy="61563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F496C94-9CC6-BA62-8CBC-43EC28B8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4" b="5600"/>
          <a:stretch>
            <a:fillRect/>
          </a:stretch>
        </p:blipFill>
        <p:spPr>
          <a:xfrm>
            <a:off x="6359652" y="5974015"/>
            <a:ext cx="5734814" cy="539496"/>
          </a:xfrm>
          <a:prstGeom prst="rect">
            <a:avLst/>
          </a:prstGeom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7E092834-7B1F-85B8-E9D4-587A5750AE12}"/>
              </a:ext>
            </a:extLst>
          </p:cNvPr>
          <p:cNvSpPr txBox="1"/>
          <p:nvPr/>
        </p:nvSpPr>
        <p:spPr>
          <a:xfrm>
            <a:off x="6656830" y="5651248"/>
            <a:ext cx="5336695" cy="397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Data set con 0.2% de rechazos: </a:t>
            </a:r>
            <a:endParaRPr sz="1400" b="0" dirty="0">
              <a:solidFill>
                <a:srgbClr val="47556C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535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E7FBF6-39E6-759C-B1F2-DDD960F4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832" y="1033271"/>
            <a:ext cx="4837176" cy="2596896"/>
          </a:xfrm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    La documentación que compone este análisis es la siguiente: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Data set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Modelo en </a:t>
            </a:r>
            <a:r>
              <a:rPr lang="es-MX" sz="1400" b="0" dirty="0" err="1">
                <a:solidFill>
                  <a:srgbClr val="47556C"/>
                </a:solidFill>
                <a:latin typeface="DejaVu Sans"/>
              </a:rPr>
              <a:t>Phyton</a:t>
            </a:r>
            <a:endParaRPr lang="es-MX" sz="1400" b="0" dirty="0">
              <a:solidFill>
                <a:srgbClr val="47556C"/>
              </a:solidFill>
              <a:latin typeface="DejaVu Sans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Documento explicativo de resultados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Documento </a:t>
            </a:r>
            <a:r>
              <a:rPr lang="es-MX" sz="1400" b="0" dirty="0" err="1">
                <a:solidFill>
                  <a:srgbClr val="47556C"/>
                </a:solidFill>
                <a:latin typeface="DejaVu Sans"/>
              </a:rPr>
              <a:t>Readme</a:t>
            </a:r>
            <a:endParaRPr lang="es-MX" sz="1400" b="0" dirty="0">
              <a:solidFill>
                <a:srgbClr val="47556C"/>
              </a:solidFill>
              <a:latin typeface="DejaVu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s-MX" sz="1400" b="0" dirty="0">
              <a:solidFill>
                <a:srgbClr val="47556C"/>
              </a:solidFill>
              <a:latin typeface="DejaVu Sans"/>
            </a:endParaRPr>
          </a:p>
        </p:txBody>
      </p:sp>
      <p:sp>
        <p:nvSpPr>
          <p:cNvPr id="4" name="Oval 3"/>
          <p:cNvSpPr/>
          <p:nvPr/>
        </p:nvSpPr>
        <p:spPr>
          <a:xfrm>
            <a:off x="475488" y="534924"/>
            <a:ext cx="338328" cy="338328"/>
          </a:xfrm>
          <a:prstGeom prst="ellipse">
            <a:avLst/>
          </a:prstGeom>
          <a:solidFill>
            <a:srgbClr val="17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02920"/>
            <a:ext cx="483717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Estructura.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74519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 b="0" dirty="0">
              <a:solidFill>
                <a:srgbClr val="47556C"/>
              </a:solidFill>
              <a:latin typeface="DejaVu Sans"/>
            </a:endParaRPr>
          </a:p>
        </p:txBody>
      </p:sp>
      <p:sp>
        <p:nvSpPr>
          <p:cNvPr id="7" name="Oval 6"/>
          <p:cNvSpPr/>
          <p:nvPr/>
        </p:nvSpPr>
        <p:spPr>
          <a:xfrm>
            <a:off x="6190488" y="534924"/>
            <a:ext cx="338328" cy="338328"/>
          </a:xfrm>
          <a:prstGeom prst="ellipse">
            <a:avLst/>
          </a:prstGeom>
          <a:solidFill>
            <a:srgbClr val="FF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502920"/>
            <a:ext cx="502005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Limitaciones.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1097278"/>
            <a:ext cx="5442242" cy="3552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Las principales limitaciones encontradas son las siguientes: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s-MX" sz="1400" dirty="0">
              <a:solidFill>
                <a:srgbClr val="47556C"/>
              </a:solidFill>
              <a:latin typeface="DejaVu Sans"/>
            </a:endParaRP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Ambos data sets representan una problemática muy desbalanceada ya que el % de botellas con defecto es muy pequeño; esto nos impacta y limita el tipo de modelos que resuelvan la necesidad.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Entre más desbalanceado se encuentre el data set, esto es, cercano a “0” el % de rechazos, obliga a usar modelos de alto desempeño.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47556C"/>
                </a:solidFill>
                <a:latin typeface="DejaVu Sans"/>
              </a:rPr>
              <a:t>Modelos como el de Regresión lineal no son tan aptos para resolver la necesidad.</a:t>
            </a: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47556C"/>
                </a:solidFill>
                <a:latin typeface="DejaVu Sans"/>
              </a:rPr>
              <a:t>Modelos como </a:t>
            </a:r>
            <a:r>
              <a:rPr lang="es-MX" sz="1400" dirty="0" err="1">
                <a:solidFill>
                  <a:srgbClr val="47556C"/>
                </a:solidFill>
                <a:latin typeface="DejaVu Sans"/>
              </a:rPr>
              <a:t>XGBoost</a:t>
            </a:r>
            <a:r>
              <a:rPr lang="es-MX" sz="1400" dirty="0">
                <a:solidFill>
                  <a:srgbClr val="47556C"/>
                </a:solidFill>
                <a:latin typeface="DejaVu Sans"/>
              </a:rPr>
              <a:t> tienen una alta capacidad de resolución.</a:t>
            </a:r>
            <a:endParaRPr sz="1400" b="0" dirty="0">
              <a:solidFill>
                <a:srgbClr val="47556C"/>
              </a:solidFill>
              <a:latin typeface="DejaVu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22386" y="5298313"/>
            <a:ext cx="338328" cy="338328"/>
          </a:xfrm>
          <a:prstGeom prst="ellipse">
            <a:avLst/>
          </a:prstGeom>
          <a:solidFill>
            <a:srgbClr val="803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729" y="5266309"/>
            <a:ext cx="502005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172237"/>
                </a:solidFill>
                <a:latin typeface="DejaVu Sans"/>
              </a:rPr>
              <a:t>Autoría.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729" y="5796661"/>
            <a:ext cx="50200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900" b="0">
                <a:solidFill>
                  <a:srgbClr val="47556C"/>
                </a:solidFill>
                <a:latin typeface="DejaVu Sans"/>
              </a:rPr>
              <a:t>Raúl Flores Ceballos</a:t>
            </a:r>
          </a:p>
        </p:txBody>
      </p:sp>
      <p:pic>
        <p:nvPicPr>
          <p:cNvPr id="14" name="Picture 13" descr="Ilustración conceptual de análisis de calidad y documentación de botella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558" y="3659415"/>
            <a:ext cx="3723798" cy="252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84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477</Words>
  <Application>Microsoft Office PowerPoint</Application>
  <PresentationFormat>Panorámica</PresentationFormat>
  <Paragraphs>48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DejaVu Sans</vt:lpstr>
      <vt:lpstr>Tema de Office</vt:lpstr>
      <vt:lpstr>“Definiendo e Ideando”  Modelos que automatizan la inspección y rechazo de defectos en líneas de alta velocidad …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Flores</dc:creator>
  <cp:lastModifiedBy>Raúl Flores</cp:lastModifiedBy>
  <cp:revision>1</cp:revision>
  <dcterms:created xsi:type="dcterms:W3CDTF">2026-10-10T14:41:23Z</dcterms:created>
  <dcterms:modified xsi:type="dcterms:W3CDTF">2026-10-17T00:19:16Z</dcterms:modified>
</cp:coreProperties>
</file>